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cc16536cba4f36" /><Relationship Type="http://schemas.openxmlformats.org/officeDocument/2006/relationships/extended-properties" Target="/docProps/app.xml" Id="R60a1483e3f89480f" /><Relationship Type="http://schemas.openxmlformats.org/officeDocument/2006/relationships/officeDocument" Target="/ppt/presentation.xml" Id="R4ffbd8e47b4c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0d202f7164cc1"/>
  </p:sldMasterIdLst>
  <p:notesMasterIdLst>
    <p:notesMasterId xmlns:r="http://schemas.openxmlformats.org/officeDocument/2006/relationships" r:id="R5279f01671b64e50"/>
  </p:notesMasterIdLst>
  <p:sldIdLst>
    <p:sldId xmlns:r="http://schemas.openxmlformats.org/officeDocument/2006/relationships" id="256" r:id="Rc5304031db864320"/>
    <p:sldId xmlns:r="http://schemas.openxmlformats.org/officeDocument/2006/relationships" id="257" r:id="Rb6dbb5896c2244f8"/>
    <p:sldId xmlns:r="http://schemas.openxmlformats.org/officeDocument/2006/relationships" id="258" r:id="R983cf738246748b4"/>
    <p:sldId xmlns:r="http://schemas.openxmlformats.org/officeDocument/2006/relationships" id="259" r:id="R8bdb9e972fd4402b"/>
    <p:sldId xmlns:r="http://schemas.openxmlformats.org/officeDocument/2006/relationships" id="260" r:id="Rb55a2feb9c8e409a"/>
    <p:sldId xmlns:r="http://schemas.openxmlformats.org/officeDocument/2006/relationships" id="261" r:id="Rbf79d724b8ef4c11"/>
    <p:sldId xmlns:r="http://schemas.openxmlformats.org/officeDocument/2006/relationships" id="262" r:id="R32915594ac934126"/>
    <p:sldId xmlns:r="http://schemas.openxmlformats.org/officeDocument/2006/relationships" id="263" r:id="R55ada46f1dbf455c"/>
    <p:sldId xmlns:r="http://schemas.openxmlformats.org/officeDocument/2006/relationships" id="264" r:id="R8f5b4e48f02b49a5"/>
    <p:sldId xmlns:r="http://schemas.openxmlformats.org/officeDocument/2006/relationships" id="265" r:id="R579f93d7eab2409c"/>
    <p:sldId xmlns:r="http://schemas.openxmlformats.org/officeDocument/2006/relationships" id="266" r:id="R8ed04f689c8b4b17"/>
    <p:sldId xmlns:r="http://schemas.openxmlformats.org/officeDocument/2006/relationships" id="267" r:id="R6373be3457bc4562"/>
    <p:sldId xmlns:r="http://schemas.openxmlformats.org/officeDocument/2006/relationships" id="268" r:id="R69f969f5e16e40b9"/>
    <p:sldId xmlns:r="http://schemas.openxmlformats.org/officeDocument/2006/relationships" id="269" r:id="R551bf26dfd2c4828"/>
    <p:sldId xmlns:r="http://schemas.openxmlformats.org/officeDocument/2006/relationships" id="270" r:id="R3a510990165743b3"/>
    <p:sldId xmlns:r="http://schemas.openxmlformats.org/officeDocument/2006/relationships" id="271" r:id="Rfb27d38f230348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01f7577c54e44" /><Relationship Type="http://schemas.openxmlformats.org/officeDocument/2006/relationships/slideMaster" Target="/ppt/slideMasters/slideMaster1.xml" Id="R0560d202f7164cc1" /><Relationship Type="http://schemas.openxmlformats.org/officeDocument/2006/relationships/notesMaster" Target="/ppt/notesMasters/notesMaster1.xml" Id="R5279f01671b64e50" /><Relationship Type="http://schemas.openxmlformats.org/officeDocument/2006/relationships/presProps" Target="/ppt/presProps.xml" Id="R03ffa9fbb7f94273" /><Relationship Type="http://schemas.openxmlformats.org/officeDocument/2006/relationships/tableStyles" Target="/ppt/tableStyles.xml" Id="Rc5566eca12b4461b" /><Relationship Type="http://schemas.openxmlformats.org/officeDocument/2006/relationships/slide" Target="/ppt/slides/slide1.xml" Id="Rc5304031db864320" /><Relationship Type="http://schemas.openxmlformats.org/officeDocument/2006/relationships/slide" Target="/ppt/slides/slide2.xml" Id="Rb6dbb5896c2244f8" /><Relationship Type="http://schemas.openxmlformats.org/officeDocument/2006/relationships/slide" Target="/ppt/slides/slide3.xml" Id="R983cf738246748b4" /><Relationship Type="http://schemas.openxmlformats.org/officeDocument/2006/relationships/slide" Target="/ppt/slides/slide4.xml" Id="R8bdb9e972fd4402b" /><Relationship Type="http://schemas.openxmlformats.org/officeDocument/2006/relationships/slide" Target="/ppt/slides/slide5.xml" Id="Rb55a2feb9c8e409a" /><Relationship Type="http://schemas.openxmlformats.org/officeDocument/2006/relationships/slide" Target="/ppt/slides/slide6.xml" Id="Rbf79d724b8ef4c11" /><Relationship Type="http://schemas.openxmlformats.org/officeDocument/2006/relationships/slide" Target="/ppt/slides/slide7.xml" Id="R32915594ac934126" /><Relationship Type="http://schemas.openxmlformats.org/officeDocument/2006/relationships/slide" Target="/ppt/slides/slide8.xml" Id="R55ada46f1dbf455c" /><Relationship Type="http://schemas.openxmlformats.org/officeDocument/2006/relationships/slide" Target="/ppt/slides/slide9.xml" Id="R8f5b4e48f02b49a5" /><Relationship Type="http://schemas.openxmlformats.org/officeDocument/2006/relationships/slide" Target="/ppt/slides/slide10.xml" Id="R579f93d7eab2409c" /><Relationship Type="http://schemas.openxmlformats.org/officeDocument/2006/relationships/slide" Target="/ppt/slides/slide11.xml" Id="R8ed04f689c8b4b17" /><Relationship Type="http://schemas.openxmlformats.org/officeDocument/2006/relationships/slide" Target="/ppt/slides/slide12.xml" Id="R6373be3457bc4562" /><Relationship Type="http://schemas.openxmlformats.org/officeDocument/2006/relationships/slide" Target="/ppt/slides/slide13.xml" Id="R69f969f5e16e40b9" /><Relationship Type="http://schemas.openxmlformats.org/officeDocument/2006/relationships/slide" Target="/ppt/slides/slide14.xml" Id="R551bf26dfd2c4828" /><Relationship Type="http://schemas.openxmlformats.org/officeDocument/2006/relationships/slide" Target="/ppt/slides/slide15.xml" Id="R3a510990165743b3" /><Relationship Type="http://schemas.openxmlformats.org/officeDocument/2006/relationships/slide" Target="/ppt/slides/slide16.xml" Id="Rfb27d38f230348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3108bb34174a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96a14391349b7" /><Relationship Type="http://schemas.openxmlformats.org/officeDocument/2006/relationships/notesMaster" Target="/ppt/notesMasters/notesMaster1.xml" Id="Rc09891f7fdd04d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a3c73c1e0d4efc" /><Relationship Type="http://schemas.openxmlformats.org/officeDocument/2006/relationships/notesMaster" Target="/ppt/notesMasters/notesMaster1.xml" Id="R0baf239a0bf342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3183ed66704ce4" /><Relationship Type="http://schemas.openxmlformats.org/officeDocument/2006/relationships/notesMaster" Target="/ppt/notesMasters/notesMaster1.xml" Id="Rd8ea3384c7fc49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3eefa1823046d6" /><Relationship Type="http://schemas.openxmlformats.org/officeDocument/2006/relationships/notesMaster" Target="/ppt/notesMasters/notesMaster1.xml" Id="R5e4303e5ffb346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f686321afd4ce9" /><Relationship Type="http://schemas.openxmlformats.org/officeDocument/2006/relationships/notesMaster" Target="/ppt/notesMasters/notesMaster1.xml" Id="R65f26800c90747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6fa34a68f84071" /><Relationship Type="http://schemas.openxmlformats.org/officeDocument/2006/relationships/notesMaster" Target="/ppt/notesMasters/notesMaster1.xml" Id="R6b9c30a6c198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5b0550070845be" /><Relationship Type="http://schemas.openxmlformats.org/officeDocument/2006/relationships/notesMaster" Target="/ppt/notesMasters/notesMaster1.xml" Id="Re1ab509f8b3247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909f9e67504c12" /><Relationship Type="http://schemas.openxmlformats.org/officeDocument/2006/relationships/notesMaster" Target="/ppt/notesMasters/notesMaster1.xml" Id="R8b382ab9805d4f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53145b42384812" /><Relationship Type="http://schemas.openxmlformats.org/officeDocument/2006/relationships/notesMaster" Target="/ppt/notesMasters/notesMaster1.xml" Id="R90e5ce3142c647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ee9569a96e4f1e" /><Relationship Type="http://schemas.openxmlformats.org/officeDocument/2006/relationships/notesMaster" Target="/ppt/notesMasters/notesMaster1.xml" Id="Rcd61a17f1e6543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8ebb26cc7645bf" /><Relationship Type="http://schemas.openxmlformats.org/officeDocument/2006/relationships/notesMaster" Target="/ppt/notesMasters/notesMaster1.xml" Id="R773b2d46398d49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5030a010c4efa" /><Relationship Type="http://schemas.openxmlformats.org/officeDocument/2006/relationships/notesMaster" Target="/ppt/notesMasters/notesMaster1.xml" Id="R3618fc32e91a44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b0386cde924dd2" /><Relationship Type="http://schemas.openxmlformats.org/officeDocument/2006/relationships/notesMaster" Target="/ppt/notesMasters/notesMaster1.xml" Id="Rbf36d585aefa4a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c4212f14e54c41" /><Relationship Type="http://schemas.openxmlformats.org/officeDocument/2006/relationships/notesMaster" Target="/ppt/notesMasters/notesMaster1.xml" Id="R6039f3e1041747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80d99273984c79" /><Relationship Type="http://schemas.openxmlformats.org/officeDocument/2006/relationships/notesMaster" Target="/ppt/notesMasters/notesMaster1.xml" Id="R497e2019914b45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2d09547c234557" /><Relationship Type="http://schemas.openxmlformats.org/officeDocument/2006/relationships/notesMaster" Target="/ppt/notesMasters/notesMaster1.xml" Id="R203e98b371b744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HEI architecture and implementation documentation: docs/HEI Application Implementation Architecture and Roadmap.md</a:t>
            </a:r>
          </a:p>
          <a:p xmlns:a="http://schemas.openxmlformats.org/drawingml/2006/main">
            <a:r>
              <a:t>- HEI product source tree and architecture 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1ca8020bf43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fa663548e4abc" /><Relationship Type="http://schemas.openxmlformats.org/officeDocument/2006/relationships/slideLayout" Target="/ppt/slideLayouts/slideLayout1.xml" Id="R2d3fab6fd2094c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fab6fd2094c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94309f4f49fa" /><Relationship Type="http://schemas.openxmlformats.org/officeDocument/2006/relationships/image" Target="/ppt/media/image.png" Id="R812f0a41731e4c46" /><Relationship Type="http://schemas.openxmlformats.org/officeDocument/2006/relationships/notesSlide" Target="/ppt/notesSlides/notesSlide1.xml" Id="R691b57c15e2149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1b68393264a13" /><Relationship Type="http://schemas.openxmlformats.org/officeDocument/2006/relationships/notesSlide" Target="/ppt/notesSlides/notesSlide2.xml" Id="Ra36aaf91ae2f45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3df00a0504880" /><Relationship Type="http://schemas.openxmlformats.org/officeDocument/2006/relationships/notesSlide" Target="/ppt/notesSlides/notesSlide3.xml" Id="Rc4154ce6bbd44f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eabd69dbc4832" /><Relationship Type="http://schemas.openxmlformats.org/officeDocument/2006/relationships/notesSlide" Target="/ppt/notesSlides/notesSlide4.xml" Id="R94afad341daf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91a5b19c24b5b" /><Relationship Type="http://schemas.openxmlformats.org/officeDocument/2006/relationships/notesSlide" Target="/ppt/notesSlides/notesSlide5.xml" Id="R282c353e2842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d4325ad194eb7" /><Relationship Type="http://schemas.openxmlformats.org/officeDocument/2006/relationships/notesSlide" Target="/ppt/notesSlides/notesSlide6.xml" Id="R45137a4537d5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b1bdf06e64ea1" /><Relationship Type="http://schemas.openxmlformats.org/officeDocument/2006/relationships/notesSlide" Target="/ppt/notesSlides/notesSlide7.xml" Id="R92466feeea36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02d521fec42ad" /><Relationship Type="http://schemas.openxmlformats.org/officeDocument/2006/relationships/notesSlide" Target="/ppt/notesSlides/notesSlide8.xml" Id="R4f1e206dd0124e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63e74204f429e" /><Relationship Type="http://schemas.openxmlformats.org/officeDocument/2006/relationships/notesSlide" Target="/ppt/notesSlides/notesSlide9.xml" Id="Rfd75d59ff4d544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9dfe67c64b6d" /><Relationship Type="http://schemas.openxmlformats.org/officeDocument/2006/relationships/notesSlide" Target="/ppt/notesSlides/notesSlide10.xml" Id="R7c0201e4b9d14d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a62d25fa444d9" /><Relationship Type="http://schemas.openxmlformats.org/officeDocument/2006/relationships/notesSlide" Target="/ppt/notesSlides/notesSlide11.xml" Id="R983a3e71634546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7bd4becc74a4d" /><Relationship Type="http://schemas.openxmlformats.org/officeDocument/2006/relationships/notesSlide" Target="/ppt/notesSlides/notesSlide12.xml" Id="R603235ae874c45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ff89465f1484a" /><Relationship Type="http://schemas.openxmlformats.org/officeDocument/2006/relationships/notesSlide" Target="/ppt/notesSlides/notesSlide13.xml" Id="Rbaa6c20cf8894c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c3e0dcd0b4923" /><Relationship Type="http://schemas.openxmlformats.org/officeDocument/2006/relationships/notesSlide" Target="/ppt/notesSlides/notesSlide14.xml" Id="R1eca06e97f7945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4ab2857fd4745" /><Relationship Type="http://schemas.openxmlformats.org/officeDocument/2006/relationships/notesSlide" Target="/ppt/notesSlides/notesSlide15.xml" Id="R855d191db4d346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9d124891740a5" /><Relationship Type="http://schemas.openxmlformats.org/officeDocument/2006/relationships/notesSlide" Target="/ppt/notesSlides/notesSlide16.xml" Id="R557c0b903f0a41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f0a41731e4c46"/>
          <a:stretch xmlns:a="http://schemas.openxmlformats.org/drawingml/2006/main"/>
        </p:blipFill>
        <p:spPr>
          <a:xfrm xmlns:a="http://schemas.openxmlformats.org/drawingml/2006/main">
            <a:off x="7143750" y="112712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54593-360E-4B63-B393-CE6DC8A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400"/>
                </a:solidFill>
              </a:defRPr>
            </a:pPr>
            <a:r>
              <a:rPr sz="1350" b="1">
                <a:solidFill>
                  <a:srgbClr val="FFD400"/>
                </a:solidFill>
              </a:rPr>
              <a:t>HEI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A9A62-7A65-49A7-9C2C-E725CB8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Engineering Intelligence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2D4D8-88E4-42B6-84FA-A7046B5C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5CBD4"/>
                </a:solidFill>
              </a:defRPr>
            </a:pPr>
            <a:r>
              <a:rPr sz="1800" b="0">
                <a:solidFill>
                  <a:srgbClr val="C5CBD4"/>
                </a:solidFill>
              </a:rPr>
              <a:t>Application implementation, architecture, scope, and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204D3-FB70-4BEE-BED5-8BF19AFF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C966F-7712-4F62-9CFE-01A0B27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81D"/>
                </a:solidFill>
              </a:defRPr>
            </a:pPr>
            <a:r>
              <a:rPr sz="975" b="1">
                <a:solidFill>
                  <a:srgbClr val="16181D"/>
                </a:solidFill>
              </a:rPr>
              <a:t>ARCHITECTURE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F3568-3A23-4439-B47B-A13B61AC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Engineering facts first. Governed context throughout.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C9299-2E4D-451F-9349-172F6D5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FBA"/>
                </a:solidFill>
              </a:defRPr>
            </a:pPr>
            <a:r>
              <a:rPr sz="1050" b="0">
                <a:solidFill>
                  <a:srgbClr val="A7AFBA"/>
                </a:solidFill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141423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E6DC0-7C3A-470A-B1E8-679BFC2C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PRODUCT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E383F-5EA9-4C55-AC2F-D8824688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HEI turns approved intent into implementation-ready engineering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42B61-8630-4E95-9364-68F7673C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37415-EE9E-487C-AA27-F53DC9A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F5EF4-06F7-486F-9FBD-0070000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The platform preserves context, evidence, and approvals across the full engineering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C9887-F787-48BF-A228-CAFC533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579DA-9CD7-4E1F-BD76-651C7462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CF31C-D67D-4C73-A251-F31BD7A1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6C5F2-68F7-4949-A9AC-4AC12F12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28875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D9FE6-3DA2-4DD4-8D47-5C0925A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00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1B315-2D0E-4156-A127-2EB5C9C0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43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B4C8A-093B-4871-903D-619742DC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BB22B-F79B-4283-8099-0159F01F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0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4DB57-C445-4845-A09B-F8BFCADE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09DE9-9683-448A-9E96-AE2901E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AF26B-FA8B-47AC-9E8D-701AAB4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0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AD4A2-DFB2-4395-A843-B65BD4E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43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EBBBE-C347-4855-8EEB-1371C94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CF4C3-6853-4123-B0F3-6A259605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QA &amp;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CD1EB-FAA1-41A5-8520-2FD7A39A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9678A-B4F6-4164-A243-864448D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D1F8D-2FE7-43EF-858D-6378759B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0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4D590-4D09-477E-8044-3915A63A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81D"/>
                </a:solidFill>
              </a:defRPr>
            </a:pPr>
            <a:r>
              <a:rPr sz="2100" b="1">
                <a:solidFill>
                  <a:srgbClr val="16181D"/>
                </a:solidFill>
              </a:rPr>
              <a:t>One context lineage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8F165-46D0-46E4-BDF5-93DBA204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879BC-D41C-41F1-ADB9-CE342EE1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967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Deterministic artifacts remain usable without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FAEEF-7025-486A-99E8-6D0F7A1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C5476-031D-4DCD-86C1-C89AD5A0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967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Humans approve consequential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791CA-20C4-4185-833A-7A4407CD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A2FBB-5F80-42E8-9C2D-F68500A1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967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Evidence, confidence, versions, and audit stay attached</a:t>
            </a:r>
          </a:p>
        </p:txBody>
      </p:sp>
    </p:spTree>
    <p:extLst>
      <p:ext uri="{BB962C8B-B14F-4D97-AF65-F5344CB8AC3E}">
        <p14:creationId xmlns:p14="http://schemas.microsoft.com/office/powerpoint/2010/main" val="1133940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727F2-8E17-45D8-8922-EEE6CF03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3E317-3AD6-4F43-B5A0-2B1D1DF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A broad engineering lifecycle platform with explicit safety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449D-8EEB-4C46-A823-DBFCA10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ECFB8-0AB0-43EA-9B95-EEF5A19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94B8E-7D22-4176-8306-0712EEAA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5"/>
                </a:solidFill>
              </a:defRPr>
            </a:pPr>
            <a:r>
              <a:rPr sz="1350" b="1">
                <a:solidFill>
                  <a:srgbClr val="168A55"/>
                </a:solidFill>
              </a:rPr>
              <a:t>IN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8DA18-3FB6-419A-9ECC-C7138B2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A12A5-AD22-4DC2-B303-F278542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Requirement intelligence and refinement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C7E7F-87B3-435E-872C-C7211D10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D39B0-5221-482F-B36E-F04C3AE4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Repository snapshots, graph, ranking,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CFD6E-E50B-42BA-8F06-DF86375D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E032C-5739-4CBC-92A0-5618647B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Planning recommendations, proposals, estimates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8AC51-C189-409E-AD31-078AFB0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C2E5A-3B75-41E4-BFAF-C6A1AADB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Implementation packages, manifests, prompts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7978D-9F61-42E9-9D1A-D69C96B5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AE549-C3CA-4649-82D4-90094D07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Runtime interpretation, validation, QA, PR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FD1EE-DFD6-4748-997D-92D23FE2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6EED0-C3CA-47A8-A222-5029B64C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Engineering Memory and Azure DevOps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B1A2B-04FE-4FD8-A9D3-85ABF1D4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E4D"/>
                </a:solidFill>
              </a:defRPr>
            </a:pPr>
            <a:r>
              <a:rPr sz="1350" b="1">
                <a:solidFill>
                  <a:srgbClr val="C83E4D"/>
                </a:solidFill>
              </a:rPr>
              <a:t>NOT IN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4AE39-4FA2-45E6-8B87-7E889BBB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A3CF2-3A9E-4A25-BBDC-385ED5F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5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Autonomous PR merge or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1B4EE-6F61-41EF-98DE-20382CE7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577EA-BFBE-4095-96FA-709BDDC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Self-approval of planning or release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DBC64-DA68-4465-BA46-D1FC3CAB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43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3FDAE-E530-4C16-84D9-892C339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Direct repository writes by the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34C8E-E1D5-457C-A09E-EDDBC686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38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08463-9ECB-4835-9A6D-4688B40E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Invented files, APIs, services, or work items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092AD-E3EE-431B-9FD7-B7FDC6F7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61DF7-8F27-4800-8B1F-B5CE0BC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71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Replacing Azure DevOps as system of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8C4E2-3EFF-4C60-AC37-2759794C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89F1B-F981-4CC4-AC29-DE356CA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81D"/>
                </a:solidFill>
              </a:defRPr>
            </a:pPr>
            <a:r>
              <a:rPr sz="1350" b="0">
                <a:solidFill>
                  <a:srgbClr val="16181D"/>
                </a:solidFill>
              </a:rPr>
              <a:t>Developer-surveillance metrics</a:t>
            </a:r>
          </a:p>
        </p:txBody>
      </p:sp>
    </p:spTree>
    <p:extLst>
      <p:ext uri="{BB962C8B-B14F-4D97-AF65-F5344CB8AC3E}">
        <p14:creationId xmlns:p14="http://schemas.microsoft.com/office/powerpoint/2010/main" val="107852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EDCA2-C240-4F9A-830C-6818553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400"/>
                </a:solidFill>
              </a:defRPr>
            </a:pPr>
            <a:r>
              <a:rPr sz="975" b="1">
                <a:solidFill>
                  <a:srgbClr val="FFD400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33927-E293-4237-A2B6-25063D65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Five layers separate experience, intelligence, governance, foundation, and enterprise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376FB-221B-40A1-9FDE-140E736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14FEA-5A3C-4AA2-87BA-17C8C8A2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0CA"/>
                </a:solidFill>
              </a:defRPr>
            </a:pPr>
            <a:r>
              <a:rPr sz="900" b="0">
                <a:solidFill>
                  <a:srgbClr val="B9C0CA"/>
                </a:solidFill>
              </a:rPr>
              <a:t>HEI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68B27-2242-492D-BB26-0142D00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85546-9D7A-4C7A-8525-9387529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52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44E5E-F52F-4CE7-943A-1AB06F47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81D"/>
                </a:solidFill>
              </a:defRPr>
            </a:pPr>
            <a:r>
              <a:rPr sz="1500" b="1">
                <a:solidFill>
                  <a:srgbClr val="16181D"/>
                </a:solidFill>
              </a:rPr>
              <a:t>ADO Hub  •  Command Center  •  VS Code  •  APIs  •  SDK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17184-7C8D-43A2-87F5-CF1D6B12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7172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9525">
            <a:solidFill>
              <a:srgbClr val="FFF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CB1AA-D4AD-4DEA-8CE6-A0BDAB8A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47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ENGINEERING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4B31A-18CB-40C1-9EC6-D2CBDF4B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574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81D"/>
                </a:solidFill>
              </a:defRPr>
            </a:pPr>
            <a:r>
              <a:rPr sz="1500" b="1">
                <a:solidFill>
                  <a:srgbClr val="16181D"/>
                </a:solidFill>
              </a:rPr>
              <a:t>Requirement  •  Planning  •  Repository  •  Context  •  Prompt  •  Runtime  •  Validation  •  QA  • 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47A7D-E788-4FE3-9B89-D26DA1F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6707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EDF7"/>
          </a:solidFill>
          <a:ln xmlns:a="http://schemas.openxmlformats.org/drawingml/2006/main" w="9525">
            <a:solidFill>
              <a:srgbClr val="E6ED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53692-2A1A-43DA-AB9E-BF486B9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43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ORCHESTRATION &amp;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1B2A3-447C-43BB-A786-488E6D3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81D"/>
                </a:solidFill>
              </a:defRPr>
            </a:pPr>
            <a:r>
              <a:rPr sz="1500" b="1">
                <a:solidFill>
                  <a:srgbClr val="16181D"/>
                </a:solidFill>
              </a:rPr>
              <a:t>Agents  •  Lifecycle  •  Approvals  •  Policies  •  Trace  •  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B9EA1-7020-4741-9386-21A40C09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E6F5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A8DE4-F28E-4945-A259-4F507749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PLATFORM 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54E9E-6B0D-4562-AC7D-D3E0CFB6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81D"/>
                </a:solidFill>
              </a:defRPr>
            </a:pPr>
            <a:r>
              <a:rPr sz="1500" b="1">
                <a:solidFill>
                  <a:srgbClr val="16181D"/>
                </a:solidFill>
              </a:rPr>
              <a:t>Jobs  •  Events  •  Audit  •  Activity  •  Notifications  •  Health  •  Versioned Stores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2B672-C8C6-4DF4-9CAA-0FCE8668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5777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2D3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5CCA3-45F0-41EA-81C1-01D4474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400"/>
                </a:solidFill>
              </a:defRPr>
            </a:pPr>
            <a:r>
              <a:rPr sz="1125" b="1">
                <a:solidFill>
                  <a:srgbClr val="FFD400"/>
                </a:solidFill>
              </a:rPr>
              <a:t>ENTERPRISE SYSTEMS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6ABF1-3BB3-43CF-B1C2-348D4C37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435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Azure DevOps  •  Git  •  AI Providers  •  Knowledge Registry  •  CI/CD</a:t>
            </a:r>
          </a:p>
        </p:txBody>
      </p:sp>
    </p:spTree>
    <p:extLst>
      <p:ext uri="{BB962C8B-B14F-4D97-AF65-F5344CB8AC3E}">
        <p14:creationId xmlns:p14="http://schemas.microsoft.com/office/powerpoint/2010/main" val="718568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4C027-AA09-4B96-925E-C9E5B33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6E257-4550-4AD8-B531-3997CCC0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Every stage consumes approved, versioned artifacts from the stage before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1D162-43C2-405C-97BA-536EE99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A2675-0904-4151-9230-026B0F9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A60C2-54A2-4DF4-95BF-681B9E19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9A038-2893-4C05-8AAB-BB4DC714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Requirement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768C7-C0D3-48D2-9D37-414FCFA0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95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B44E9-207F-40B3-AAD8-3107A256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1A5EB-D5AB-4DCD-A740-DAE7ED0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Planning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E7890-ADCA-4DC8-802D-E1B04297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95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6B3FB-7687-48E2-9C23-4DBDE78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D356A-D672-4F54-AE69-B7CF00E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Planning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7E49E-D32E-449C-8266-8D2EA44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95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07363-B8F1-4210-BB77-62BAE92F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E4AD-4C7B-4463-B520-1B9278EB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Implementation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7FFBC-3A41-4375-BBD0-D643CF27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5458C-2577-4507-921F-C7346F95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AB90D-474C-4CC2-8740-4512948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Execution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11DD1-1E6F-46F2-B9C3-FD18136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95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A3372-0A31-4E78-9376-0353039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93332-9D08-4510-B271-7D3E27EE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Validation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&amp;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2EE7E-28FB-4F75-A804-5FB2467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95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1F8EC-CB76-4D79-B461-EAB0245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33625"/>
            <a:ext cx="1381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893B4-99CB-4C2B-BE99-082C6433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05075"/>
            <a:ext cx="1228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Memory / PR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265E2-5DE7-483A-B1A7-E6A8100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9DC"/>
          </a:solidFill>
          <a:ln xmlns:a="http://schemas.openxmlformats.org/drawingml/2006/main" w="9525">
            <a:solidFill>
              <a:srgbClr val="F4B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5304C-C865-49A3-B493-B31B7D3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Human approval boundaries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5E13A-369C-4E5F-B2D8-C4563763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386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Requirement review  •  Planning approval  •  ADO writes  •  PR comments  •  Release decisions</a:t>
            </a:r>
          </a:p>
        </p:txBody>
      </p:sp>
    </p:spTree>
    <p:extLst>
      <p:ext uri="{BB962C8B-B14F-4D97-AF65-F5344CB8AC3E}">
        <p14:creationId xmlns:p14="http://schemas.microsoft.com/office/powerpoint/2010/main" val="1068530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AC2F74-2899-454C-9915-653C2FBC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B265E-D709-43BA-A292-5B12A032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Canonical artifacts prevent downstream stages from reconstructing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0D61-2655-4F3F-BED6-92F4C317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69B83-5CCA-40C6-A173-1090508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8C2EA-72FF-4F19-B327-177CEA14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814E0-0447-450D-85BA-5A36F1F7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9"/>
          </a:solidFill>
          <a:ln xmlns:a="http://schemas.openxmlformats.org/drawingml/2006/main" w="0">
            <a:solidFill>
              <a:srgbClr val="2673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E1AAC-8D2C-4849-90BF-0060FE80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Requirement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057FB-3839-4708-B768-E90C614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Immutable/versioned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DFA62-82CE-4FF5-87A4-C1406AF1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0F3CB-8556-4394-883E-28446482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9"/>
          </a:solidFill>
          <a:ln xmlns:a="http://schemas.openxmlformats.org/drawingml/2006/main" w="0">
            <a:solidFill>
              <a:srgbClr val="2673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84650-A932-4377-9B73-662BDCF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Planning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1F20F-4602-41A7-87C8-30AFEA5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Immutable/versioned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14F90-6080-49F3-BD2A-C089665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33790-2910-4FF3-BEDE-57D43F1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9"/>
          </a:solidFill>
          <a:ln xmlns:a="http://schemas.openxmlformats.org/drawingml/2006/main" w="0">
            <a:solidFill>
              <a:srgbClr val="2673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3ADD2-1167-432E-8A71-CB3DF3F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Planning 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0C769-C378-4FC6-AD19-BB1F6B58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Immutable/versioned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8F673-5FD9-4106-BD1A-B36874BB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6F554-9537-4D28-8F56-DFF8D481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AFC85-4D74-44A5-9BF6-474A4665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Context Capsule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ACB1C-527C-4CBB-B5BE-796A814E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Immutable/versioned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E8CC7-2D1D-4A39-8494-2FB930F2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763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9F311-A03F-4AE5-BF2F-057E5C1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763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61285-467E-429C-8BEF-8026F8A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716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Implementation 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7E416-B870-4ACA-8F17-2CEE282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954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Derived only from prior artifact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C6C98-EAC0-4296-93F4-0AEE543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431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32CFB-AFD1-462E-9822-4220F39B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431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6BA9A-ED0C-4265-810F-31AF2EC8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384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Execution Manifest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0B733-275C-4FB1-83E6-E927D7AF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622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Derived only from prior artifact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84B0A-DD14-4030-8483-F152E2F6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099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95CA7-DDEC-45A6-861E-93130F43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099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614BB-F02D-4F77-B7E0-F78B94D1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052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Compiled Prompt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7A064-B53B-4799-859C-A82BDCD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290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Derived only from prior artifact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3E1FE-4C2A-440B-8245-3D0CDD7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96104-D15F-4CDF-95BE-F878E403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B3C678-0FEE-4418-B08B-7BD24FCD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720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Execution Session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317323-66C2-4F21-B5EE-8994CCE3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9587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Outcome lineage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D923FB-CCCB-46D8-9792-FAE523DE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24050"/>
            <a:ext cx="685800" cy="3181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0773A3-E6A5-49D4-AD62-41989C8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8612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CONTEXT-FIRST</a:t>
            </a:r>
          </a:p>
        </p:txBody>
      </p:sp>
    </p:spTree>
    <p:extLst>
      <p:ext uri="{BB962C8B-B14F-4D97-AF65-F5344CB8AC3E}">
        <p14:creationId xmlns:p14="http://schemas.microsoft.com/office/powerpoint/2010/main" val="441553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198AA6-5C6E-4D43-B0B7-449E9E0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CONTEXT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D1486-322E-4CE8-9B3E-7E446B80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Repository facts remain authoritative; memory and AI add support, not fiction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98BF8-BC00-45B2-96EF-22F30DC9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A2B20-73E4-4C46-905B-C4D367DE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A007F-EEAC-4257-8710-4009DF0C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D781E-54D5-4F9F-ABC6-337E2CB6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9"/>
          </a:solidFill>
          <a:ln xmlns:a="http://schemas.openxmlformats.org/drawingml/2006/main" w="0">
            <a:solidFill>
              <a:srgbClr val="2673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F4686-354D-4930-B8BB-C658D10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81D"/>
                </a:solidFill>
              </a:defRPr>
            </a:pPr>
            <a:r>
              <a:rPr sz="1875" b="1">
                <a:solidFill>
                  <a:srgbClr val="16181D"/>
                </a:solidFill>
              </a:rPr>
              <a:t>Repository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3A9F0-44A1-4CEA-B224-1AE6CFB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43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Files, modules, symbols, APIs, tests, snapshots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E34F1-EB22-41F7-B55C-4F0AB6A4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76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5CCE0-7850-4708-AF9F-B2DDB9B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8A0"/>
          </a:solidFill>
          <a:ln xmlns:a="http://schemas.openxmlformats.org/drawingml/2006/main" w="0">
            <a:solidFill>
              <a:srgbClr val="11A8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9FC35-1B09-41A4-98A6-4F975E6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81D"/>
                </a:solidFill>
              </a:defRPr>
            </a:pPr>
            <a:r>
              <a:rPr sz="1875" b="1">
                <a:solidFill>
                  <a:srgbClr val="16181D"/>
                </a:solidFill>
              </a:rPr>
              <a:t>Knowledge 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95D92-2E30-41EA-92D4-3005C6FD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43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Architecture, standards, flows,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93A32-527E-49EF-8444-69FBBF11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76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0361A-E773-4780-955B-ABE1A9C1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2B1B5-1722-4F5C-AA7C-71F11CE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81D"/>
                </a:solidFill>
              </a:defRPr>
            </a:pPr>
            <a:r>
              <a:rPr sz="1875" b="1">
                <a:solidFill>
                  <a:srgbClr val="16181D"/>
                </a:solidFill>
              </a:rPr>
              <a:t>Engineering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1EFF7-C135-47C8-B519-44E3588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443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Approved patterns, decisions, lessons, prior outcomes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9190B-ED00-4D00-8798-56176BA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9525">
            <a:solidFill>
              <a:srgbClr val="1618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DCBA-663B-4636-9091-EA518BB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D400"/>
                </a:solidFill>
              </a:defRPr>
            </a:pPr>
            <a:r>
              <a:rPr sz="2550" b="1">
                <a:solidFill>
                  <a:srgbClr val="FFD400"/>
                </a:solidFill>
              </a:rPr>
              <a:t>Context Capsule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3B146-BFDF-4658-83FA-3D0FFFBB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4E07C-0F14-49F6-A35B-A43E8A6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860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Selected evidence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32F39-6265-4DD1-A5C8-45DB0D9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5758B-3642-4AE5-8E26-938E6233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670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Rejected context preserved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C36CB-500E-46C7-A0DB-826D164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BA263-F0D7-4C2B-AB23-B3111B3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Freshness and confidence recorded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9A494-4EBF-4184-AC2D-03F1BE1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882EE-2612-476B-A4BF-C72C48B6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290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 invented repository paths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F53D7-A2C8-40B6-A261-C55F907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4A0A3-F38C-4072-9F02-0AFB428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100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Token-aware downstream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19C12-C113-43C0-BD4F-A7D2CF5D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E9108-7275-4E90-AFEB-68F738B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0425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9D5A1F-2B44-4D3A-9B77-172042A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8630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539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2F0FC-5C4A-4F36-853D-93A9A83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REQUIREMENT &amp;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48720-6573-4A89-9324-6433EDDC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AI reasoning is governed by verified discovery and explicit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8A7EF-B995-4B9C-A320-83FE411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2AECF-BABD-40C5-8B9E-225AD2D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F19A6-0EFE-43F8-ADAB-01F6B75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8BFF5-02DC-47B3-9EAE-91854DD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9"/>
          </a:solidFill>
          <a:ln xmlns:a="http://schemas.openxmlformats.org/drawingml/2006/main" w="0">
            <a:solidFill>
              <a:srgbClr val="2673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F13DD-94E3-4404-B00B-FAFACDA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2A689-8343-4476-9FE0-EC3C7E1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Text • document • transcript • 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66D74-0C07-444C-9803-1BA17C18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71F7D-BA92-493F-AA31-C4BDA7AA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8A0"/>
          </a:solidFill>
          <a:ln xmlns:a="http://schemas.openxmlformats.org/drawingml/2006/main" w="0">
            <a:solidFill>
              <a:srgbClr val="11A8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D5825-7B21-4E2C-99A5-4B61BA88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REFINE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1287D-1400-43CF-94DC-E20881F9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Clarity without invented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8BB2A-349F-4A86-B121-4E219CB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39D94-39C3-46B9-8C0B-1C74AB36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F6084-4D8A-4930-A364-A73877A4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DISCOVER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82924-E0AA-4D21-B027-7416458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Repository • Markdown • ADO •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67DB1-A72A-457E-8828-BCC9BF67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B9ECA-1E39-46CD-A6DF-EC1D73AD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68460-7463-4C2E-A80A-4185E7B6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ANALYZE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C339A-0B36-48CA-9B83-A8B7628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Business understanding +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EF2CC-156D-4CB5-B131-8705741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E0F51-9807-4E14-998F-C57F62B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9268F-A4C8-479C-A016-8E3F253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RECOMMEND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8C6B8-BB12-4FFB-9136-10B7F369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Reuse • impact • alternatives • 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9758A-6CAB-45BE-9E2D-20E653B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676E7-41B0-4859-A2D5-5812DEE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E4D"/>
          </a:solidFill>
          <a:ln xmlns:a="http://schemas.openxmlformats.org/drawingml/2006/main" w="0">
            <a:solidFill>
              <a:srgbClr val="C83E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871360-B7F5-4021-B147-906584F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81D"/>
                </a:solidFill>
              </a:defRPr>
            </a:pPr>
            <a:r>
              <a:rPr sz="1650" b="1">
                <a:solidFill>
                  <a:srgbClr val="16181D"/>
                </a:solidFill>
              </a:rPr>
              <a:t>PROPOSE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0DF55-4D69-43E7-8531-8C7C3183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00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Epic • Feature • Story • Task • estimate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81711-B0B9-4D21-BE95-651490E5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181D"/>
                </a:solidFill>
              </a:defRPr>
            </a:pPr>
            <a:r>
              <a:rPr sz="1500" b="1">
                <a:solidFill>
                  <a:srgbClr val="16181D"/>
                </a:solidFill>
              </a:rPr>
              <a:t>Approval freezes the proposal; later edits create a new version and reset approval.</a:t>
            </a:r>
          </a:p>
        </p:txBody>
      </p:sp>
    </p:spTree>
    <p:extLst>
      <p:ext uri="{BB962C8B-B14F-4D97-AF65-F5344CB8AC3E}">
        <p14:creationId xmlns:p14="http://schemas.microsoft.com/office/powerpoint/2010/main" val="32825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B69E19-6FCF-4724-B083-4A94F9EE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REPOSITORY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5BACC-6262-4AC9-A803-67BD427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Versioned snapshots make context fresh, auditable, and drift-aware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9DE03-C033-42FB-BFE7-591F66A1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E7C8D-84C0-46B2-AAB2-02CB245D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042E0-F63B-4945-BF61-0A27E684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6B27E-F366-4866-8BEA-9C4779D7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A306F-C5E0-44F4-BCA6-FBDEB18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2C24C-7781-416F-BC4D-9D80D3F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9BBCB-D515-4F84-9C2D-E5E89E7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Synchronize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D769D-3609-44B8-A669-96D8546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4B78E-2905-4AF6-A1EA-FE673F26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F7ABC-8D96-462E-A4CF-40704CF5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F710A-E876-47CB-B8AF-41AD3E5A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1879F-103F-4C75-9D07-929A0C94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D8CAD-7DF7-441B-B54B-593B7D60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Parse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C94F8-E55F-4F68-A9AD-220F36B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65D31-B37E-44B7-99EB-1D10A600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91FA4-4801-4607-A9B8-F4F1ECA3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75CBE-767D-43E2-903C-7195E654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8776C-FCBB-40F8-9779-493BA12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1F18F-E32C-4F28-B97B-7F4F6891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Rank 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6AE64-75E2-4203-AB23-69DA5C3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CFDAE-E289-412F-9103-1C78B7B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47875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43BDD-7142-4B9C-86DD-5457E58C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193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Build Capsule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20FA2-D93E-41EE-BB03-F4CD88D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81D"/>
                </a:solidFill>
              </a:defRPr>
            </a:pPr>
            <a:r>
              <a:rPr sz="1950" b="1">
                <a:solidFill>
                  <a:srgbClr val="16181D"/>
                </a:solidFill>
              </a:rPr>
              <a:t>Snapshot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AFE0E-010A-42D4-8B73-1A3E793A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047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95DC6-2901-4D14-A7C8-661906C4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v1</a:t>
            </a:r>
          </a:p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Full scan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D11D5-7728-4C22-AD43-64BB697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339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81781-F431-407F-97AB-97C642A1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2047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F2D441-661D-493B-957B-AB78903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v2</a:t>
            </a:r>
          </a:p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Incremental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92791-050A-4C5A-B13D-F5A319B1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339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FB754-9ACF-40B3-812A-E80AF59F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2047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F45A48-5631-480F-B878-5DC1E5CD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6245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v3</a:t>
            </a:r>
          </a:p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PR merged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35ADC-5A3D-44E3-9524-D719DCCD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027464-857F-4532-BDA9-AE9204BF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38625"/>
            <a:ext cx="2047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168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23627-A36E-4235-983C-0E68B769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v4</a:t>
            </a:r>
          </a:p>
          <a:p xmlns:a="http://schemas.openxmlformats.org/drawingml/2006/main">
            <a:pPr algn="ctr">
              <a:defRPr sz="1425" b="1">
                <a:solidFill>
                  <a:srgbClr val="16181D"/>
                </a:solidFill>
              </a:defRPr>
            </a:pPr>
            <a:r>
              <a:rPr sz="1425" b="1">
                <a:solidFill>
                  <a:srgbClr val="16181D"/>
                </a:solidFill>
              </a:rPr>
              <a:t>Current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17FAA4-B8E1-4954-A0DE-AA3D456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Drift detection • freshness warnings • rollback • audit lineage</a:t>
            </a:r>
          </a:p>
        </p:txBody>
      </p:sp>
    </p:spTree>
    <p:extLst>
      <p:ext uri="{BB962C8B-B14F-4D97-AF65-F5344CB8AC3E}">
        <p14:creationId xmlns:p14="http://schemas.microsoft.com/office/powerpoint/2010/main" val="1358001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282FF3-360A-4292-9E24-E1F0FC4D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EXECUTION &amp; PROMPT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5162D-49E6-4D3A-8FAD-DA9E26C6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Structured engineering specifications stay separate from model-specific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218B-9A4E-4257-A1B5-3871A11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1FFCA-F86D-45F4-8A3B-32E67431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EFD51-A979-4E4A-9B2D-D0798CA5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A6058-BD6A-470E-B42E-CE3F98AC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Context Capsule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3D868-E9C0-4B64-8ACE-751FABA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Selected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39169-9956-4B74-AE8C-8B02B837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65E52-C138-4501-8ECD-052E33E8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393E5-FF5D-4591-A838-24080FEF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Implementation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067FA-1608-4351-B9D0-28F8344F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Canonical specification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EAE27-18CF-4261-ACB9-C95E4C29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74E4F-4869-4AE5-AD30-65437766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0D1CE-48A2-4EF2-9476-2E74E13B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Implementation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4F28F-2056-4322-85E3-BA872BCC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Human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4189F-47C2-4E63-A8ED-772EEFBF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A9A03-EDF1-495F-96FA-E6B972BF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A3DD1-DBF0-4B42-8518-05EE8F7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Execution 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43491-689A-4A32-A18B-35F40470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Model-neutral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5ED9E-8FEE-43C8-8AA2-D571EAC7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CF7D6-27D8-485F-8768-492A922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F3D39-0314-496A-9FF5-AAE2C5D3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Prompt Compiler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EAC19-37CC-4682-998E-08C640C8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Sections + deduplication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F5DAF-E622-4CC8-A831-8A1359B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A47BD-09DE-4B7C-84C6-5856DD0A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29D373-496A-46D8-BB39-2BA9A33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Model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0C49D-B1EE-40C4-8417-3BF8F9D1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Provider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FE622-FDF6-4877-BEC2-ECD086F0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301BF-2926-41A6-A088-39A1E37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43125"/>
            <a:ext cx="1476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96028A-B496-4595-9975-55B1147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860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81D"/>
                </a:solidFill>
              </a:defRPr>
            </a:pPr>
            <a:r>
              <a:rPr sz="1200" b="1">
                <a:solidFill>
                  <a:srgbClr val="16181D"/>
                </a:solidFill>
              </a:rPr>
              <a:t>Execution Prompt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C9159-ACAD-4B19-97DC-99CBFCF7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622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Bounded instructions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0008BB-28AF-426D-B3DC-A87058D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81D"/>
                </a:solidFill>
              </a:defRPr>
            </a:pPr>
            <a:r>
              <a:rPr sz="1950" b="1">
                <a:solidFill>
                  <a:srgbClr val="16181D"/>
                </a:solidFill>
              </a:rPr>
              <a:t>Prompt Budget Manager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222E59-838E-4D30-8A4A-E12E7ED2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7B5D3E-1440-4E4A-B0EA-5D27BCD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Required sections are never removed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4B0CC-8E18-4389-82C4-E509C2D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A948C-1DCC-47C5-9584-AF448B4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Small models receive compressed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437C9D-94CB-48E1-BF78-8B7EE86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481702-80DF-4428-812D-F4BF7D71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Provider calls are blocked before overflow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A9E68-8366-413C-AAE8-1FE6C4E6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0E2C6F-B4AD-4E89-8CF4-91E23C1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81D"/>
                </a:solidFill>
              </a:defRPr>
            </a:pPr>
            <a:r>
              <a:rPr sz="1500" b="0">
                <a:solidFill>
                  <a:srgbClr val="16181D"/>
                </a:solidFill>
              </a:rPr>
              <a:t>Diagnostics record tokens, removals, and routing</a:t>
            </a:r>
          </a:p>
        </p:txBody>
      </p:sp>
    </p:spTree>
    <p:extLst>
      <p:ext uri="{BB962C8B-B14F-4D97-AF65-F5344CB8AC3E}">
        <p14:creationId xmlns:p14="http://schemas.microsoft.com/office/powerpoint/2010/main" val="2143197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902A7-8C7C-4E53-8C79-C9DA821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400"/>
                </a:solidFill>
              </a:defRPr>
            </a:pPr>
            <a:r>
              <a:rPr sz="975" b="1">
                <a:solidFill>
                  <a:srgbClr val="FFD400"/>
                </a:solidFill>
              </a:rPr>
              <a:t>RUNTIME, VALIDATION &amp;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D7B8-C938-44A2-B8EE-149CD1D3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HEI interprets engineering outcomes without modifying repositories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855E6-B431-403E-8037-DBDCBBB5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570AE-7034-4610-8C7B-61255FD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0CA"/>
                </a:solidFill>
              </a:defRPr>
            </a:pPr>
            <a:r>
              <a:rPr sz="900" b="0">
                <a:solidFill>
                  <a:srgbClr val="B9C0CA"/>
                </a:solidFill>
              </a:rPr>
              <a:t>HEI  |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00740-B744-4E13-BE24-6E719BE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5430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2E2EB-214B-4843-83F2-3467575A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Provider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8AAC7-AA17-436A-A27A-2E4D80B2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71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3FF2F-E20C-421B-9CCC-F524D64C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15430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D0A39-FC20-46DA-8AA7-651BA448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7172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Artifact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A51E2-7279-4A94-88D2-DCF39072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373EF-0CA2-40A6-B9A5-9FF9347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15430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D3F52-61E0-4087-BA58-A93351C1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7172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Engineering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B9792-5D73-4578-8473-2B3C2F2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2321A-DBFC-4115-BC5F-8D677D75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5430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DE444-DD2C-4DC6-8371-86507CEB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7172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Validation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A101E-659F-40E6-B190-E7AE6E8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8D73B-0022-483C-ABDD-888EB2D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15430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0F75A-1F9F-4855-B99B-B747618C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QA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4D4BC-C996-4D97-B971-F035328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D2391-B186-40F0-A6D6-E23FF9E0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90750"/>
            <a:ext cx="15430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D8A66-FFB9-44BE-BA88-0E9F67D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7172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Memory / PR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88E69-9291-4B35-B5C9-5DCAD92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Answers the questions that matter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E9D1F-0F02-4FC2-8C0A-7BBC4B4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6AD33-F318-498C-B1D0-B6AF6CC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Did implementation satisfy acceptance criteria?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CE08B-A595-4EA2-BAFC-1F6A87FE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4CC1A-D52B-4F45-9CE2-BF1C826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Did it stay within approved scope and modules?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EC082-367B-44F4-9133-02892C9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12A7E-CAE1-4379-A16E-8FD0877F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Were required tests added and regression risks addressed?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D06A0-CD57-46F6-9CE6-2749C313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D28BD-03BB-4418-93EB-4292B948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Is the change ready for release, and why?</a:t>
            </a:r>
          </a:p>
        </p:txBody>
      </p:sp>
    </p:spTree>
    <p:extLst>
      <p:ext uri="{BB962C8B-B14F-4D97-AF65-F5344CB8AC3E}">
        <p14:creationId xmlns:p14="http://schemas.microsoft.com/office/powerpoint/2010/main" val="1506675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6BAE0A-7BF2-4E77-A473-C475552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AZURE DEVOPS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9C3C3-461D-45FD-BF39-FE856844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Azure DevOps remains the system of record; HEI adds governed intelligence and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DE949-210E-4370-A39A-2F1F90E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C534-7110-4E24-B5ED-01FCB7A8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E6AA4-623F-4D8C-934B-00725112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43AA8-94DA-49DE-BD56-11CBFD0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9"/>
          </a:solidFill>
          <a:ln xmlns:a="http://schemas.openxmlformats.org/drawingml/2006/main" w="0">
            <a:solidFill>
              <a:srgbClr val="2673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9547A-C250-4384-8D45-83A68DAA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81D"/>
                </a:solidFill>
              </a:defRPr>
            </a:pPr>
            <a:r>
              <a:rPr sz="1950" b="1">
                <a:solidFill>
                  <a:srgbClr val="16181D"/>
                </a:solidFill>
              </a:rPr>
              <a:t>Azure DevOps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DC77E-D31A-43C7-B6EC-D2F56713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676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Projects • work items • repos • PRs • builds • sprints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9ED59-98FE-482E-B659-E9C9E29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369C0-5208-4E68-8947-B7AE8F58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21185-3182-4F60-ADE3-1561C11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737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81D"/>
                </a:solidFill>
              </a:defRPr>
            </a:pPr>
            <a:r>
              <a:rPr sz="1950" b="1">
                <a:solidFill>
                  <a:srgbClr val="16181D"/>
                </a:solidFill>
              </a:rPr>
              <a:t>HEI Integration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AE527-1464-4B80-941B-30A21A1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81225"/>
            <a:ext cx="3676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Normalize • sync • webhook idempotency •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95A9C-0863-4D04-B328-00533B45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62125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2AA9D-5556-4E86-ABE7-07D9AA44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62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58405-8829-4B26-A4C8-AAAA3EE4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5737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81D"/>
                </a:solidFill>
              </a:defRPr>
            </a:pPr>
            <a:r>
              <a:rPr sz="1950" b="1">
                <a:solidFill>
                  <a:srgbClr val="16181D"/>
                </a:solidFill>
              </a:rPr>
              <a:t>HEI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2378E-6043-44A8-8503-13DF9011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81225"/>
            <a:ext cx="3676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Recommendations • estimates • PR and sprint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7D46A-E716-40FE-84FC-7016E06E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4DA77-EBE5-460F-AFB7-77FA989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95840-50E4-4923-8BCA-428BE39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81D"/>
                </a:solidFill>
              </a:defRPr>
            </a:pPr>
            <a:r>
              <a:rPr sz="2100" b="1">
                <a:solidFill>
                  <a:srgbClr val="16181D"/>
                </a:solidFill>
              </a:rPr>
              <a:t>Every write follows the same safety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B3ECA-99AA-46A7-8C2D-F5F009D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476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8AD03-6BFE-4B9E-A797-DF87842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81D"/>
                </a:solidFill>
              </a:defRPr>
            </a:pPr>
            <a:r>
              <a:rPr sz="1275" b="1">
                <a:solidFill>
                  <a:srgbClr val="16181D"/>
                </a:solidFill>
              </a:rPr>
              <a:t>Preview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08A5E-87F0-44CF-ADCA-E0E08640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48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CB7B-21C9-438E-92B8-5C1FEA14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1476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38235-85E7-4F2B-B568-5FA8781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10075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81D"/>
                </a:solidFill>
              </a:defRPr>
            </a:pPr>
            <a:r>
              <a:rPr sz="1275" b="1">
                <a:solidFill>
                  <a:srgbClr val="16181D"/>
                </a:solidFill>
              </a:rPr>
              <a:t>Approve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DFFC3-005B-40E1-B5AF-79F9F801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48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B4979-E102-44FC-AD28-A790FA7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38625"/>
            <a:ext cx="1476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1821D-47AA-4AF3-B739-562BC17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10075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81D"/>
                </a:solidFill>
              </a:defRPr>
            </a:pPr>
            <a:r>
              <a:rPr sz="1275" b="1">
                <a:solidFill>
                  <a:srgbClr val="16181D"/>
                </a:solidFill>
              </a:rPr>
              <a:t>Permission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C1A2B-2647-4729-AC6D-33D8DC82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48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D59FB-BB98-4F7C-B001-6E4FE3CF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38625"/>
            <a:ext cx="1476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EA60F-91B5-4E21-A9BC-28532F4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10075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81D"/>
                </a:solidFill>
              </a:defRPr>
            </a:pPr>
            <a:r>
              <a:rPr sz="1275" b="1">
                <a:solidFill>
                  <a:srgbClr val="16181D"/>
                </a:solidFill>
              </a:rPr>
              <a:t>Revision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0A320-0A31-49D8-ACEC-2B383D1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48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F38C02-CB3E-4531-AC90-5BA93DD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1476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4A6891-2FDD-4C55-9C37-224A92A3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0075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81D"/>
                </a:solidFill>
              </a:defRPr>
            </a:pPr>
            <a:r>
              <a:rPr sz="1275" b="1">
                <a:solidFill>
                  <a:srgbClr val="16181D"/>
                </a:solidFill>
              </a:rPr>
              <a:t>Idempotency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B7315F-1481-4C6D-8314-F3E0C99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177DD4-08C5-4A19-8C34-D16B39B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238625"/>
            <a:ext cx="1476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271D3E-3A0C-4F94-8837-290B5324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410075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81D"/>
                </a:solidFill>
              </a:defRPr>
            </a:pPr>
            <a:r>
              <a:rPr sz="1275" b="1">
                <a:solidFill>
                  <a:srgbClr val="16181D"/>
                </a:solidFill>
              </a:rPr>
              <a:t>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54D1A0-4E7D-4BBE-8A91-D3DDDFC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No arbitrary patch API • no silent overwrite • no automatic merge</a:t>
            </a:r>
          </a:p>
        </p:txBody>
      </p:sp>
    </p:spTree>
    <p:extLst>
      <p:ext uri="{BB962C8B-B14F-4D97-AF65-F5344CB8AC3E}">
        <p14:creationId xmlns:p14="http://schemas.microsoft.com/office/powerpoint/2010/main" val="3215161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68005-E88E-4D4E-B75D-0220B74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D146C-D359-4500-B702-E7557476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The platform is a modular monolith with mature breadth and targeted hardening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BA08-15E7-4F9B-8B96-4229A7B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FC798-7E82-4C9E-BD84-94435ED8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9D714-5A68-4C34-8115-9E9DE862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5"/>
                </a:solidFill>
              </a:defRPr>
            </a:pPr>
            <a:r>
              <a:rPr sz="1350" b="1">
                <a:solidFill>
                  <a:srgbClr val="168A55"/>
                </a:solidFill>
              </a:rPr>
              <a:t>IMPLEMENTED / ACTIVE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3A621-C008-4BC6-A49D-1EF35F2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3FAA6-0210-4B15-B024-7AC80B1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Command Center + ADO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0314-A27E-4B85-9A41-E240BFB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90C15-9661-4E5C-A964-0919C19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Requirement and Planning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24935-225F-41F1-89AB-AA5377A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7368E-6C98-4B2D-B4BC-575A278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Repository snapshots, parser, graph, 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BA300-FD68-4A56-940E-2040732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A42A0-7CD0-405E-B1D9-F362CD2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Context Capsules and Implementation Packages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C2C13-B755-4F78-96E5-BC6BFF9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3DAD5-8418-4418-BD94-8A00A06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Prompt compiler, budgets, adapters,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0F89E-31F5-4176-8510-179EBE1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8E1AC-B018-4C15-867F-6D8818FC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Runtime, validation, QA, PR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31EBD-41EB-4F44-A230-7C57E04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47864-1EF7-4F03-BDD4-ACAA5E3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Memory, agents, governance,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BBC28-6B60-4EBA-967C-CBAD6EB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E4D"/>
                </a:solidFill>
              </a:defRPr>
            </a:pPr>
            <a:r>
              <a:rPr sz="1350" b="1">
                <a:solidFill>
                  <a:srgbClr val="C83E4D"/>
                </a:solidFill>
              </a:rPr>
              <a:t>HARDEN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48083-6AF3-4161-8B1E-2B62067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BD395-F70B-4079-BA7F-D04461C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5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Enterprise database and distributed queues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34A44-83E6-41BB-AAEF-D783611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6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D8A63-4ECF-4418-8710-9CC8C796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Horizontal scale and multi-instance coordination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954DA-FF43-4985-9A70-F2090E92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0D823-A15E-4F34-9393-92CC77CA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Very large repository indexing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863F5-F216-49B2-86D3-25FABB4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1A024-78E4-4B0F-82D6-E8F6CE95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Provider reliability and structured response handling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AF112-6A19-4503-8D2B-8E61D8AD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F75FA-F396-4660-A2D0-45F19CC3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433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Contract consolidation across compatibility aliases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F8298-F76B-4A0C-AEF5-138F5575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7A2B6-3F07-4604-A39E-211CB3C2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D"/>
                </a:solidFill>
              </a:defRPr>
            </a:pPr>
            <a:r>
              <a:rPr sz="1275" b="0">
                <a:solidFill>
                  <a:srgbClr val="16181D"/>
                </a:solidFill>
              </a:rPr>
              <a:t>Production SLOs, backup, retention, DR</a:t>
            </a:r>
          </a:p>
        </p:txBody>
      </p:sp>
    </p:spTree>
    <p:extLst>
      <p:ext uri="{BB962C8B-B14F-4D97-AF65-F5344CB8AC3E}">
        <p14:creationId xmlns:p14="http://schemas.microsoft.com/office/powerpoint/2010/main" val="802167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B3DAD5-0B06-499F-A20A-F2CA0A57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400"/>
                </a:solidFill>
              </a:defRPr>
            </a:pPr>
            <a:r>
              <a:rPr sz="975" b="1">
                <a:solidFill>
                  <a:srgbClr val="FFD400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21364-F84A-4D35-BBE7-7DD3A47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Reliability and contract consolidation unlock enterprise scale and controlled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B0C74-037E-477C-8F07-B82A562F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95BED-189F-4585-84F8-C3807E20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0CA"/>
                </a:solidFill>
              </a:defRPr>
            </a:pPr>
            <a:r>
              <a:rPr sz="900" b="0">
                <a:solidFill>
                  <a:srgbClr val="B9C0CA"/>
                </a:solidFill>
              </a:rPr>
              <a:t>HEI  |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D7277-1DE2-4C38-AC7F-5E622907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619250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235A6-1FD7-4CDA-B3DD-5681418C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181D"/>
                </a:solidFill>
              </a:defRPr>
            </a:pPr>
            <a:r>
              <a:rPr sz="3150" b="1">
                <a:solidFill>
                  <a:srgbClr val="16181D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20CA-145C-4883-8737-31C93240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25DA8-7668-4832-B8D3-DF4CBF4E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72E"/>
                </a:solidFill>
              </a:defRPr>
            </a:pPr>
            <a:r>
              <a:rPr sz="1200" b="0">
                <a:solidFill>
                  <a:srgbClr val="24272E"/>
                </a:solidFill>
              </a:rPr>
              <a:t>Contracts • provider governance • lineage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F35C4-6042-449F-80D2-492FE5D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956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211BC-A13B-4D99-9A78-2904269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000250"/>
            <a:ext cx="1619250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0F609-AFF0-4EEC-92CB-3B3EB44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431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D400"/>
                </a:solidFill>
              </a:defRPr>
            </a:pPr>
            <a:r>
              <a:rPr sz="3150" b="1">
                <a:solidFill>
                  <a:srgbClr val="FFD400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8E9E9-320C-45AD-8ACE-BFD7C8FB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813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Persistence &amp; 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85321-94FB-4230-89CF-7EF2C20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BD4"/>
                </a:solidFill>
              </a:defRPr>
            </a:pPr>
            <a:r>
              <a:rPr sz="1200" b="0">
                <a:solidFill>
                  <a:srgbClr val="C5CBD4"/>
                </a:solidFill>
              </a:rPr>
              <a:t>Database • queues • object storage • 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CFB2C-1136-4F83-832E-F2EDDC8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956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60DD2-77D1-4B7F-B71C-1A75123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0250"/>
            <a:ext cx="1619250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0CE59-DE88-4BCA-8B36-158E76D2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D400"/>
                </a:solidFill>
              </a:defRPr>
            </a:pPr>
            <a:r>
              <a:rPr sz="3150" b="1">
                <a:solidFill>
                  <a:srgbClr val="FFD400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698BA-F0A2-4C82-85BF-5864F10E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Intelligence depth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FB6B8-B478-4A9A-8513-4F31434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99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BD4"/>
                </a:solidFill>
              </a:defRPr>
            </a:pPr>
            <a:r>
              <a:rPr sz="1200" b="0">
                <a:solidFill>
                  <a:srgbClr val="C5CBD4"/>
                </a:solidFill>
              </a:rPr>
              <a:t>Incremental parsing • graph rank • multi-repo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185AD-8C90-4C33-BFDE-3C5FB7B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D033F-9269-459B-99C0-8D48C342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1619250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15F8E-8723-4A63-8FDB-EB31443D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D400"/>
                </a:solidFill>
              </a:defRPr>
            </a:pPr>
            <a:r>
              <a:rPr sz="3150" b="1">
                <a:solidFill>
                  <a:srgbClr val="FFD400"/>
                </a:solidFill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4F619-38DA-4A9F-9438-70B6AB73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Execution 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291C3-4A53-4681-A9F8-B87BE1D1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BD4"/>
                </a:solidFill>
              </a:defRPr>
            </a:pPr>
            <a:r>
              <a:rPr sz="1200" b="0">
                <a:solidFill>
                  <a:srgbClr val="C5CBD4"/>
                </a:solidFill>
              </a:rPr>
              <a:t>IDE workspace • runtime callbacks • PR linkage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87AD9-BCE3-4383-B089-4AE0EC9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3511A-A483-4FB9-B2DF-DB701A3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00250"/>
            <a:ext cx="1619250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39166-3156-4C9A-AA01-BF41398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D400"/>
                </a:solidFill>
              </a:defRPr>
            </a:pPr>
            <a:r>
              <a:rPr sz="3150" b="1">
                <a:solidFill>
                  <a:srgbClr val="FFD400"/>
                </a:solidFill>
              </a:rPr>
              <a:t>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20EEE-0392-40F2-8225-CBD0855C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E19B0-0BB5-4610-8DBC-2BBD813D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BD4"/>
                </a:solidFill>
              </a:defRPr>
            </a:pPr>
            <a:r>
              <a:rPr sz="1200" b="0">
                <a:solidFill>
                  <a:srgbClr val="C5CBD4"/>
                </a:solidFill>
              </a:rPr>
              <a:t>Policies • scorecards • SLOs • audit retention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475B8-4566-4AB0-94FE-753D1130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956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solidFill>
              <a:srgbClr val="F4B4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6C9AD-3283-44A1-B785-56DE4DE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1619250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D323B"/>
          </a:solidFill>
          <a:ln xmlns:a="http://schemas.openxmlformats.org/drawingml/2006/main" w="9525">
            <a:solidFill>
              <a:srgbClr val="5057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1DF98-C2F4-4A17-934B-BA326F3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431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D400"/>
                </a:solidFill>
              </a:defRPr>
            </a:pPr>
            <a:r>
              <a:rPr sz="3150" b="1">
                <a:solidFill>
                  <a:srgbClr val="FFD400"/>
                </a:solidFill>
              </a:rPr>
              <a:t>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35E700-A22D-405A-972C-9EF82940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Controlled agents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8ECA6-F43D-4D9F-9D6D-9F357C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BD4"/>
                </a:solidFill>
              </a:defRPr>
            </a:pPr>
            <a:r>
              <a:rPr sz="1200" b="0">
                <a:solidFill>
                  <a:srgbClr val="C5CBD4"/>
                </a:solidFill>
              </a:rPr>
              <a:t>Event-driven preparation with human gates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F440D3-4B5C-4FFA-A031-24C7E84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Human approval remains invariant across every phase.</a:t>
            </a:r>
          </a:p>
        </p:txBody>
      </p:sp>
    </p:spTree>
    <p:extLst>
      <p:ext uri="{BB962C8B-B14F-4D97-AF65-F5344CB8AC3E}">
        <p14:creationId xmlns:p14="http://schemas.microsoft.com/office/powerpoint/2010/main" val="14555271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CCAE1-BB00-4DC5-AD8E-C6CC9D23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TARGET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14D99-FBE0-482E-9C3E-968035F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81D"/>
                </a:solidFill>
              </a:defRPr>
            </a:pPr>
            <a:r>
              <a:rPr sz="2850" b="1">
                <a:solidFill>
                  <a:srgbClr val="16181D"/>
                </a:solidFill>
              </a:rPr>
              <a:t>A stable Platform SDK fronts independently scalable intelligence and runtime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29A2D-2C49-4BA9-A6B6-1A675BA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solidFill>
              <a:srgbClr val="FFD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ACF69-DC23-4AA8-AE01-FAF0F9C7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HEI  |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613FC-027D-4AA7-87B3-C54F379F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9525">
            <a:solidFill>
              <a:srgbClr val="1618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F9910-B7B4-449B-A599-E5CD215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Experience:  ADO Hub  •  Command Center  •  VS Code  •  CLI /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F83DC-F4FE-4D04-9AB0-38D86E7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FFD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1503A-60B9-4E00-BB6B-B2551E66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60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181D"/>
                </a:solidFill>
              </a:defRPr>
            </a:pPr>
            <a:r>
              <a:rPr sz="1575" b="1">
                <a:solidFill>
                  <a:srgbClr val="16181D"/>
                </a:solidFill>
              </a:rPr>
              <a:t>HEI PLATFORM SDK  •  Versioned service contracts  •  Transport independence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EE616-6172-4B5E-914C-11099F4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C9C3E-7000-4931-93B7-1F663D6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Requirement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&amp; 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9B234-47CF-4FA1-A8EB-BA667C93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861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E1CB-DADE-4437-9FFC-8A3C22E6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29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Repository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&amp;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B53E3-11DB-49F5-B715-F874D52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861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0CC99-3979-476A-99E5-CE7FDBC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29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Execution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&amp;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E2E5D-AFB8-4945-A349-ADB9E5E3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861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57C46-D5DB-46E7-83C4-36D164A2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29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Runtime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&amp;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388F7-6861-4AF2-B952-4AF12C69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861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86D75-F5BC-409D-A2F1-D25A04F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29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QA &amp;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C14F8-26EB-4053-922F-F8F8F44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861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2B8D6-CC22-4D87-A5D7-B13B0A3B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29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ADO</a:t>
            </a:r>
          </a:p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E46C2-2FAA-48BC-BA0E-A76C09E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1095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EDF7"/>
          </a:solidFill>
          <a:ln xmlns:a="http://schemas.openxmlformats.org/drawingml/2006/main" w="9525">
            <a:solidFill>
              <a:srgbClr val="C5D1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AD42B-5E00-4353-8CC2-181360E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181D"/>
                </a:solidFill>
              </a:defRPr>
            </a:pPr>
            <a:r>
              <a:rPr sz="1500" b="1">
                <a:solidFill>
                  <a:srgbClr val="16181D"/>
                </a:solidFill>
              </a:rPr>
              <a:t>Platform Foundation: durable jobs • events • audit • policies • health • observability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252C9-6DBB-4FF6-BD10-F6062447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67350"/>
            <a:ext cx="10953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87EFA-2B65-4581-AA18-DAD2755F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34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81D"/>
                </a:solidFill>
              </a:defRPr>
            </a:pPr>
            <a:r>
              <a:rPr sz="1350" b="1">
                <a:solidFill>
                  <a:srgbClr val="16181D"/>
                </a:solidFill>
              </a:rPr>
              <a:t>Enterprise systems: Azure DevOps • Git • AI providers • Knowledge • CI/CD</a:t>
            </a:r>
          </a:p>
        </p:txBody>
      </p:sp>
    </p:spTree>
    <p:extLst>
      <p:ext uri="{BB962C8B-B14F-4D97-AF65-F5344CB8AC3E}">
        <p14:creationId xmlns:p14="http://schemas.microsoft.com/office/powerpoint/2010/main" val="1297697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6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A0223-EF73-4316-9210-E787BB0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400"/>
                </a:solidFill>
              </a:defRPr>
            </a:pPr>
            <a:r>
              <a:rPr sz="1200" b="1">
                <a:solidFill>
                  <a:srgbClr val="FFD400"/>
                </a:solidFill>
              </a:rPr>
              <a:t>HEI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BFB2F-9505-4182-9D3E-CE91D28C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 governed engineering context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that survives the whole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D3211-1D22-4CC2-A7EB-F097050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400"/>
                </a:solidFill>
              </a:defRPr>
            </a:pPr>
            <a:r>
              <a:rPr sz="1800" b="1">
                <a:solidFill>
                  <a:srgbClr val="FFD400"/>
                </a:solidFill>
              </a:rPr>
              <a:t>Facts before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A5BA9-3C11-4760-AA15-A10DB3E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400"/>
                </a:solidFill>
              </a:defRPr>
            </a:pPr>
            <a:r>
              <a:rPr sz="1800" b="1">
                <a:solidFill>
                  <a:srgbClr val="FFD400"/>
                </a:solidFill>
              </a:rPr>
              <a:t>Context before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29617-6B62-4E34-B290-30775D2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400"/>
                </a:solidFill>
              </a:defRPr>
            </a:pPr>
            <a:r>
              <a:rPr sz="1800" b="1">
                <a:solidFill>
                  <a:srgbClr val="FFD400"/>
                </a:solidFill>
              </a:rPr>
              <a:t>Approval before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350FC-344E-4F41-A5F0-7C9C31B5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5CBD4"/>
                </a:solidFill>
              </a:defRPr>
            </a:pPr>
            <a:r>
              <a:rPr sz="1725" b="0">
                <a:solidFill>
                  <a:srgbClr val="C5CBD4"/>
                </a:solidFill>
              </a:rPr>
              <a:t>The next engineering priority is reliability: consolidate contracts, persist state durably, and harden provider and context lineage.</a:t>
            </a:r>
          </a:p>
        </p:txBody>
      </p:sp>
    </p:spTree>
    <p:extLst>
      <p:ext uri="{BB962C8B-B14F-4D97-AF65-F5344CB8AC3E}">
        <p14:creationId xmlns:p14="http://schemas.microsoft.com/office/powerpoint/2010/main" val="406087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2026-08-04T11:24:13.8320000Z</dcterms:created>
  <dcterms:modified xsi:type="dcterms:W3CDTF">2026-08-04T11:24:13.8320000Z</dcterms:modified>
</coreProperties>
</file>